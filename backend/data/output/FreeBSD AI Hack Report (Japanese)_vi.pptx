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6733" y="0"/>
            <a:ext cx="9524" cy="6858000"/>
          </a:xfrm>
          <a:prstGeom prst="rect">
            <a:avLst/>
          </a:prstGeom>
          <a:solidFill>
            <a:srgbClr val="00FF41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15437" y="0"/>
            <a:ext cx="9524" cy="6858000"/>
          </a:xfrm>
          <a:prstGeom prst="rect">
            <a:avLst/>
          </a:prstGeom>
          <a:solidFill>
            <a:srgbClr val="00FF41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50000">
                <a:srgbClr val="121010">
                  <a:alpha val="0"/>
                </a:srgbClr>
              </a:gs>
              <a:gs pos="50000">
                <a:srgbClr val="000000">
                  <a:alpha val="25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238249"/>
            <a:ext cx="12191695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650"/>
              </a:spcAft>
            </a:pPr>
            <a:r>
              <a:rPr sz="3827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AI đã giải mã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152650"/>
            <a:ext cx="12191695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/>
              </a:spcBef>
            </a:pPr>
            <a:r>
              <a:rPr sz="3827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Sự sụp đổ của "Pháo đài FreeBSD"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4081" y="3038475"/>
            <a:ext cx="6743531" cy="1162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5740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FREEBSD FALLEN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5032" y="2990849"/>
            <a:ext cx="6743531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5740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FREEBSD FALLEN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5032" y="2990849"/>
            <a:ext cx="6743531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5740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FREEBSD FALLEN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267199"/>
            <a:ext cx="1219169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1300"/>
              </a:spcBef>
              <a:spcAft>
                <a:spcPts val="0"/>
              </a:spcAft>
            </a:pPr>
            <a:r>
              <a:rPr sz="1435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TARGET: CVE-2026-4747 | DISCOVERED BY: CLAUDE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8974" y="5181599"/>
            <a:ext cx="1876378" cy="4381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88888"/>
                </a:solidFill>
                <a:latin typeface="Rajdhani"/>
                <a:rFonts ascii="Rajdhani" hAnsi="Rajdhani" eastAsia="Rajdhani" cs="Rajdhani"/>
              </a:rPr>
              <a:t> THREAT LEVEL: </a:t>
            </a:r>
            <a:r>
              <a:rPr sz="956" b="1">
                <a:solidFill>
                  <a:srgbClr val="FF3333"/>
                </a:solidFill>
                <a:latin typeface="Rajdhani"/>
                <a:rFonts ascii="Rajdhani" hAnsi="Rajdhani" eastAsia="Rajdhani" cs="Rajdhani"/>
              </a:rPr>
              <a:t>CRITICAL</a:t>
            </a:r>
            <a:r>
              <a:rPr sz="956" b="0">
                <a:solidFill>
                  <a:srgbClr val="888888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342" y="5181599"/>
            <a:ext cx="1876378" cy="4381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88888"/>
                </a:solidFill>
                <a:latin typeface="Rajdhani"/>
                <a:rFonts ascii="Rajdhani" hAnsi="Rajdhani" eastAsia="Rajdhani" cs="Rajdhani"/>
              </a:rPr>
              <a:t> SYSTEM: </a:t>
            </a:r>
            <a:r>
              <a:rPr sz="95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COMPROMISED</a:t>
            </a:r>
            <a:r>
              <a:rPr sz="956" b="0">
                <a:solidFill>
                  <a:srgbClr val="888888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90" y="6276975"/>
            <a:ext cx="113344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Share Tech Mono"/>
                <a:rFonts ascii="Share Tech Mono" hAnsi="Share Tech Mono" eastAsia="Share Tech Mono" cs="Share Tech Mono"/>
              </a:rPr>
              <a:t>SYS.LOG 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0990" y="6343650"/>
            <a:ext cx="76198" cy="76200"/>
          </a:xfrm>
          <a:prstGeom prst="roundRect">
            <a:avLst>
              <a:gd name="adj" fmla="val 50000"/>
            </a:avLst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4932" y="6276975"/>
            <a:ext cx="115249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Share Tech Mono"/>
                <a:rFonts ascii="Share Tech Mono" hAnsi="Share Tech Mono" eastAsia="Share Tech Mono" cs="Share Tech Mono"/>
              </a:rPr>
              <a:t>DATE: 2026.04.07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7923" y="6276975"/>
            <a:ext cx="151443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Share Tech Mono"/>
                <a:rFonts ascii="Share Tech Mono" hAnsi="Share Tech Mono" eastAsia="Share Tech Mono" cs="Share Tech Mono"/>
              </a:rPr>
              <a:t>SEC.PROTOCOL: OFFLINE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3426" y="1038224"/>
            <a:ext cx="10591535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Mục tiêu: FREEBSD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3426" y="1666874"/>
            <a:ext cx="1059153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650"/>
              </a:spcBef>
              <a:spcAft>
                <a:spcPts val="0"/>
              </a:spcAft>
            </a:pPr>
            <a:r>
              <a:rPr sz="1196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>"Pháo đài bất tử" chi phối hạ tầng truyền thông thế giới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428875"/>
            <a:ext cx="6286342" cy="3390899"/>
          </a:xfrm>
          <a:prstGeom prst="roundRect">
            <a:avLst>
              <a:gd name="adj" fmla="val 2247"/>
            </a:avLst>
          </a:prstGeom>
          <a:solidFill>
            <a:srgbClr val="FFFFFF">
              <a:alpha val="3000"/>
            </a:srgbClr>
          </a:solidFill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00" y="2724150"/>
            <a:ext cx="569580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// GLOBAL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000" y="3171825"/>
            <a:ext cx="380990" cy="380999"/>
          </a:xfrm>
          <a:prstGeom prst="rect">
            <a:avLst/>
          </a:prstGeom>
          <a:solidFill>
            <a:srgbClr val="00FF41">
              <a:alpha val="10000"/>
            </a:srgbClr>
          </a:solidFill>
          <a:ln w="8255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2000" y="31718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862" y="3219449"/>
            <a:ext cx="62863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E0E0E0"/>
                </a:solidFill>
                <a:latin typeface="Noto Sans JP"/>
                <a:rFonts ascii="Noto Sans JP" hAnsi="Noto Sans JP" eastAsia="Noto Sans JP" cs="Noto Sans JP"/>
              </a:rPr>
              <a:t>Netflix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5152" y="3171825"/>
            <a:ext cx="380990" cy="380999"/>
          </a:xfrm>
          <a:prstGeom prst="rect">
            <a:avLst/>
          </a:prstGeom>
          <a:solidFill>
            <a:srgbClr val="00FF41">
              <a:alpha val="10000"/>
            </a:srgbClr>
          </a:solidFill>
          <a:ln w="8255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5152" y="31718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014" y="3219449"/>
            <a:ext cx="108582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E0E0E0"/>
                </a:solidFill>
                <a:latin typeface="Noto Sans JP"/>
                <a:rFonts ascii="Noto Sans JP" hAnsi="Noto Sans JP" eastAsia="Noto Sans JP" cs="Noto Sans JP"/>
              </a:rPr>
              <a:t>PlayStation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000" y="3743325"/>
            <a:ext cx="380990" cy="380999"/>
          </a:xfrm>
          <a:prstGeom prst="rect">
            <a:avLst/>
          </a:prstGeom>
          <a:solidFill>
            <a:srgbClr val="00FF41">
              <a:alpha val="10000"/>
            </a:srgbClr>
          </a:solidFill>
          <a:ln w="8255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000" y="37433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862" y="3790949"/>
            <a:ext cx="94295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E0E0E0"/>
                </a:solidFill>
                <a:latin typeface="Noto Sans JP"/>
                <a:rFonts ascii="Noto Sans JP" hAnsi="Noto Sans JP" eastAsia="Noto Sans JP" cs="Noto Sans JP"/>
              </a:rPr>
              <a:t>WhatsApp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5152" y="3743325"/>
            <a:ext cx="380990" cy="380999"/>
          </a:xfrm>
          <a:prstGeom prst="rect">
            <a:avLst/>
          </a:prstGeom>
          <a:solidFill>
            <a:srgbClr val="00FF41">
              <a:alpha val="10000"/>
            </a:srgbClr>
          </a:solidFill>
          <a:ln w="8255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5152" y="37433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FW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9014" y="3790949"/>
            <a:ext cx="84770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E0E0E0"/>
                </a:solidFill>
                <a:latin typeface="Noto Sans JP"/>
                <a:rFonts ascii="Noto Sans JP" hAnsi="Noto Sans JP" eastAsia="Noto Sans JP" cs="Noto Sans JP"/>
              </a:rPr>
              <a:t>Firewalls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2000" y="4314825"/>
            <a:ext cx="380990" cy="380999"/>
          </a:xfrm>
          <a:prstGeom prst="rect">
            <a:avLst/>
          </a:prstGeom>
          <a:solidFill>
            <a:srgbClr val="00FF41">
              <a:alpha val="10000"/>
            </a:srgbClr>
          </a:solidFill>
          <a:ln w="8255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000" y="43148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5862" y="4362450"/>
            <a:ext cx="72388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E0E0E0"/>
                </a:solidFill>
                <a:latin typeface="Noto Sans JP"/>
                <a:rFonts ascii="Noto Sans JP" hAnsi="Noto Sans JP" eastAsia="Noto Sans JP" cs="Noto Sans JP"/>
              </a:rPr>
              <a:t>Routers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05152" y="4314825"/>
            <a:ext cx="380990" cy="380999"/>
          </a:xfrm>
          <a:prstGeom prst="rect">
            <a:avLst/>
          </a:prstGeom>
          <a:solidFill>
            <a:srgbClr val="00FF41">
              <a:alpha val="10000"/>
            </a:srgbClr>
          </a:solidFill>
          <a:ln w="8255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05152" y="43148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9014" y="4362450"/>
            <a:ext cx="70483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E0E0E0"/>
                </a:solidFill>
                <a:latin typeface="Noto Sans JP"/>
                <a:rFonts ascii="Noto Sans JP" hAnsi="Noto Sans JP" eastAsia="Noto Sans JP" cs="Noto Sans JP"/>
              </a:rPr>
              <a:t>Servers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67533" y="2428875"/>
            <a:ext cx="1523961" cy="1714500"/>
          </a:xfrm>
          <a:prstGeom prst="rect">
            <a:avLst/>
          </a:prstGeom>
          <a:solidFill>
            <a:srgbClr val="FFFFFF">
              <a:alpha val="5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246" y="2828925"/>
            <a:ext cx="600059" cy="9144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FREE</a:t>
            </a:r>
            <a:r>
              <a:rPr sz="1104"/>
              <a:t>
</a:t>
            </a:r>
            <a:r>
              <a:rPr sz="1913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BSD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4146" y="4429125"/>
            <a:ext cx="2600259" cy="371475"/>
          </a:xfrm>
          <a:prstGeom prst="rect">
            <a:avLst/>
          </a:prstGeom>
          <a:solidFill>
            <a:srgbClr val="FF3333">
              <a:alpha val="10000"/>
            </a:srgbClr>
          </a:solidFill>
          <a:ln w="8255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4146" y="4429125"/>
            <a:ext cx="260025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3333"/>
                </a:solidFill>
                <a:latin typeface="Share Tech Mono"/>
                <a:rFonts ascii="Share Tech Mono" hAnsi="Share Tech Mono" eastAsia="Share Tech Mono" cs="Share Tech Mono"/>
              </a:rPr>
              <a:t>SYSTEM STATUS: VULNERABLE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3156" y="5086350"/>
            <a:ext cx="3352716" cy="7334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625"/>
              </a:lnSpc>
              <a:spcBef>
                <a:spcPts val="195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 xml:space="preserve"> Hệ thống vốn được tin là "không thể crack" trong suốt nhiều năm.</a:t>
            </a:r>
            <a:r>
              <a:rPr sz="1104"/>
              <a:t xml:space="preserve">
</a:t>
            </a:r>
            <a:r>
              <a:rPr sz="956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 xml:space="preserve"> Tuy nhiên, bức tường đó đã bị vô hiệu hóa bởi AI.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4326" y="5886450"/>
            <a:ext cx="1971625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33333"/>
                </a:solidFill>
                <a:latin typeface="Share Tech Mono"/>
                <a:rFonts ascii="Share Tech Mono" hAnsi="Share Tech Mono" eastAsia="Share Tech Mono" cs="Share Tech Mono"/>
              </a:rPr>
              <a:t> $ uname -a</a:t>
            </a:r>
            <a:r>
              <a:rPr sz="1104"/>
              <a:t>
</a:t>
            </a:r>
            <a:r>
              <a:rPr sz="717" b="0">
                <a:solidFill>
                  <a:srgbClr val="333333"/>
                </a:solidFill>
                <a:latin typeface="Share Tech Mono"/>
                <a:rFonts ascii="Share Tech Mono" hAnsi="Share Tech Mono" eastAsia="Share Tech Mono" cs="Share Tech Mono"/>
              </a:rPr>
              <a:t> FreeBSD Fortress 13.2-RELEASE</a:t>
            </a:r>
            <a:r>
              <a:rPr sz="1104"/>
              <a:t>
</a:t>
            </a:r>
            <a:r>
              <a:rPr sz="717" b="0">
                <a:solidFill>
                  <a:srgbClr val="333333"/>
                </a:solidFill>
                <a:latin typeface="Share Tech Mono"/>
                <a:rFonts ascii="Share Tech Mono" hAnsi="Share Tech Mono" eastAsia="Share Tech Mono" cs="Share Tech Mono"/>
              </a:rPr>
              <a:t> Kernel: Secure</a:t>
            </a:r>
            <a:r>
              <a:rPr sz="1104"/>
              <a:t>
</a:t>
            </a:r>
            <a:r>
              <a:rPr sz="717" b="0">
                <a:solidFill>
                  <a:srgbClr val="333333"/>
                </a:solidFill>
                <a:latin typeface="Share Tech Mono"/>
                <a:rFonts ascii="Share Tech Mono" hAnsi="Share Tech Mono" eastAsia="Share Tech Mono" cs="Share Tech Mono"/>
              </a:rPr>
              <a:t> [!] WARNING: ROOT ACCESS GRANTED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12482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33" y="2009774"/>
            <a:ext cx="6172045" cy="971550"/>
          </a:xfrm>
          <a:prstGeom prst="rect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246998" y="2429509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5327" y="2266950"/>
            <a:ext cx="40003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333333"/>
                </a:solidFill>
                <a:latin typeface="Rajdhani"/>
                <a:rFonts ascii="Rajdhani" hAnsi="Rajdhani" eastAsia="Rajdhani" cs="Rajdhan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3486" y="2152650"/>
            <a:ext cx="1828754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DDDDDD"/>
                </a:solidFill>
                <a:latin typeface="Noto Sans JP"/>
                <a:rFonts ascii="Noto Sans JP" hAnsi="Noto Sans JP" eastAsia="Noto Sans JP" cs="Noto Sans JP"/>
              </a:rPr>
              <a:t>Tự tìm kiếm lỗ hổng</a:t>
            </a:r>
            <a:r>
              <a:rPr sz="1104"/>
              <a:t xml:space="preserve">
</a:t>
            </a:r>
            <a:r>
              <a:rPr sz="956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>(Autonomous Discovery)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33" y="3267075"/>
            <a:ext cx="6172045" cy="971550"/>
          </a:xfrm>
          <a:prstGeom prst="rect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246998" y="3686810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5327" y="3524250"/>
            <a:ext cx="46671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333333"/>
                </a:solidFill>
                <a:latin typeface="Rajdhani"/>
                <a:rFonts ascii="Rajdhani" hAnsi="Rajdhani" eastAsia="Rajdhani" cs="Rajdhan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159" y="3409950"/>
            <a:ext cx="2962200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DDDDDD"/>
                </a:solidFill>
                <a:latin typeface="Noto Sans JP"/>
                <a:rFonts ascii="Noto Sans JP" hAnsi="Noto Sans JP" eastAsia="Noto Sans JP" cs="Noto Sans JP"/>
              </a:rPr>
              <a:t>Tạo mã khai thác</a:t>
            </a:r>
            <a:r>
              <a:rPr sz="1104"/>
              <a:t xml:space="preserve">
</a:t>
            </a:r>
            <a:r>
              <a:rPr sz="956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>(Exploit Generation)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33" y="4524374"/>
            <a:ext cx="6172045" cy="971550"/>
          </a:xfrm>
          <a:prstGeom prst="rect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246998" y="4944109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4781549"/>
            <a:ext cx="47623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333333"/>
                </a:solidFill>
                <a:latin typeface="Rajdhani"/>
                <a:rFonts ascii="Rajdhani" hAnsi="Rajdhani" eastAsia="Rajdhani" cs="Rajdhan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684" y="4667249"/>
            <a:ext cx="3705132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DDDDDD"/>
                </a:solidFill>
                <a:latin typeface="Noto Sans JP"/>
                <a:rFonts ascii="Noto Sans JP" hAnsi="Noto Sans JP" eastAsia="Noto Sans JP" cs="Noto Sans JP"/>
              </a:rPr>
              <a:t>Vượt tường lửa ・ Chiếm quyền Root</a:t>
            </a:r>
            <a:r>
              <a:rPr sz="1104"/>
              <a:t xml:space="preserve">
</a:t>
            </a:r>
            <a:r>
              <a:rPr sz="956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>(Bypass &amp; Root Access)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733" y="5781674"/>
            <a:ext cx="6172045" cy="971550"/>
          </a:xfrm>
          <a:prstGeom prst="rect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246998" y="6201409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5532" y="2476499"/>
            <a:ext cx="352416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975"/>
              </a:spcAft>
            </a:pP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Hacking truyền thống (Past)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5532" y="2819399"/>
            <a:ext cx="352416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>Đội APT cấp quốc gia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5532" y="3181350"/>
            <a:ext cx="352416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>Thời gian điều tra kéo dài vài tháng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5532" y="3524250"/>
            <a:ext cx="352416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>Chi phí hàng triệu đô 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10264" y="4552949"/>
            <a:ext cx="4114697" cy="2019299"/>
          </a:xfrm>
          <a:prstGeom prst="rect">
            <a:avLst/>
          </a:prstGeom>
          <a:solidFill>
            <a:srgbClr val="00FF41">
              <a:alpha val="2000"/>
            </a:srgbClr>
          </a:solidFill>
          <a:ln w="8255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05532" y="4857750"/>
            <a:ext cx="352416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975"/>
              </a:spcAft>
            </a:pP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Tấn công bằng AI (Present)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5532" y="5200650"/>
            <a:ext cx="352416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</a:t>
            </a:r>
            <a:r>
              <a:rPr sz="1435" b="1">
                <a:solidFill>
                  <a:srgbClr val="00FF41"/>
                </a:solidFill>
                <a:latin typeface="Noto Sans JP"/>
                <a:rFonts ascii="Noto Sans JP" hAnsi="Noto Sans JP" eastAsia="Noto Sans JP" cs="Noto Sans JP"/>
              </a:rPr>
              <a:t>smart_toy</a:t>
            </a: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Claude AI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705532" y="5248966"/>
            <a:ext cx="1152496" cy="24626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05532" y="5543550"/>
            <a:ext cx="352416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</a:t>
            </a:r>
            <a:r>
              <a:rPr sz="1435" b="1">
                <a:solidFill>
                  <a:srgbClr val="00FF41"/>
                </a:solidFill>
                <a:latin typeface="Noto Sans JP"/>
                <a:rFonts ascii="Noto Sans JP" hAnsi="Noto Sans JP" eastAsia="Noto Sans JP" cs="Noto Sans JP"/>
              </a:rPr>
              <a:t>timer</a:t>
            </a: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8 Hours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705532" y="5609097"/>
            <a:ext cx="619109" cy="21180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05532" y="5886450"/>
            <a:ext cx="352416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</a:t>
            </a:r>
            <a:r>
              <a:rPr sz="1435" b="1">
                <a:solidFill>
                  <a:srgbClr val="00FF41"/>
                </a:solidFill>
                <a:latin typeface="Noto Sans JP"/>
                <a:rFonts ascii="Noto Sans JP" hAnsi="Noto Sans JP" eastAsia="Noto Sans JP" cs="Noto Sans JP"/>
              </a:rPr>
              <a:t>attach_money</a:t>
            </a: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</a:t>
            </a:r>
            <a:r>
              <a:rPr sz="1674" b="1">
                <a:solidFill>
                  <a:srgbClr val="FF3333"/>
                </a:solidFill>
                <a:latin typeface="Rajdhani"/>
                <a:rFonts ascii="Rajdhani" hAnsi="Rajdhani" eastAsia="Rajdhani" cs="Rajdhani"/>
              </a:rPr>
              <a:t>$</a:t>
            </a: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API Cost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705532" y="5940893"/>
            <a:ext cx="1609684" cy="2721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6733" y="6753224"/>
            <a:ext cx="10858228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44444"/>
                </a:solidFill>
                <a:latin typeface="Share Tech Mono"/>
                <a:rFonts ascii="Share Tech Mono" hAnsi="Share Tech Mono" eastAsia="Share Tech Mono" cs="Share Tech Mono"/>
              </a:rPr>
              <a:t> &gt; SYSTEM_STATUS: COMPROMISED </a:t>
            </a:r>
            <a:r>
              <a:rPr sz="1104"/>
              <a:t>
</a:t>
            </a:r>
            <a:r>
              <a:rPr sz="837" b="0">
                <a:solidFill>
                  <a:srgbClr val="444444"/>
                </a:solidFill>
                <a:latin typeface="Share Tech Mono"/>
                <a:rFonts ascii="Share Tech Mono" hAnsi="Share Tech Mono" eastAsia="Share Tech Mono" cs="Share Tech Mono"/>
              </a:rPr>
              <a:t> &gt; ADMIN_AWARENESS: NULL </a:t>
            </a:r>
            <a:r>
              <a:rPr sz="1104"/>
              <a:t>
</a:t>
            </a:r>
            <a:r>
              <a:rPr sz="837" b="0">
                <a:solidFill>
                  <a:srgbClr val="444444"/>
                </a:solidFill>
                <a:latin typeface="Share Tech Mono"/>
                <a:rFonts ascii="Share Tech Mono" hAnsi="Share Tech Mono" eastAsia="Share Tech Mono" cs="Share Tech Mono"/>
              </a:rPr>
              <a:t> &gt; THREAT_LEVEL: CRITICAL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066799"/>
            <a:ext cx="5143371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666666"/>
                </a:solidFill>
                <a:latin typeface="Rajdhani"/>
                <a:rFonts ascii="Rajdhani" hAnsi="Rajdhani" eastAsia="Rajdhani" cs="Rajdhani"/>
              </a:rPr>
              <a:t>// SYSTEM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33" y="1619250"/>
            <a:ext cx="5143371" cy="1704975"/>
          </a:xfrm>
          <a:prstGeom prst="rect">
            <a:avLst/>
          </a:prstGeom>
          <a:solidFill>
            <a:srgbClr val="111111"/>
          </a:solidFill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753" y="1819275"/>
            <a:ext cx="95247" cy="95249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149" y="1819275"/>
            <a:ext cx="95247" cy="95249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1545" y="1819275"/>
            <a:ext cx="95247" cy="95249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753" y="2057400"/>
            <a:ext cx="4743331" cy="10667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 </a:t>
            </a:r>
            <a:r>
              <a:rPr sz="837" b="0">
                <a:solidFill>
                  <a:srgbClr val="FFFFFF"/>
                </a:solidFill>
                <a:latin typeface="Share Tech Mono"/>
                <a:rFonts ascii="Share Tech Mono" hAnsi="Share Tech Mono" eastAsia="Share Tech Mono" cs="Share Tech Mono"/>
              </a:rPr>
              <a:t>root@freebsd</a:t>
            </a: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:~# status</a:t>
            </a:r>
            <a:r>
              <a:rPr sz="1104"/>
              <a:t>
</a:t>
            </a: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 System Status: </a:t>
            </a:r>
            <a:r>
              <a:rPr sz="837" b="0">
                <a:solidFill>
                  <a:srgbClr val="FFFFFF"/>
                </a:solidFill>
                <a:latin typeface="Share Tech Mono"/>
                <a:rFonts ascii="Share Tech Mono" hAnsi="Share Tech Mono" eastAsia="Share Tech Mono" cs="Share Tech Mono"/>
              </a:rPr>
              <a:t>ONLINE</a:t>
            </a:r>
            <a:r>
              <a:rPr sz="1104"/>
              <a:t>
</a:t>
            </a: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 Load Average: 0.02 (Normal)</a:t>
            </a:r>
            <a:r>
              <a:rPr sz="1104"/>
              <a:t>
</a:t>
            </a: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 Security Protocol: </a:t>
            </a:r>
            <a:r>
              <a:rPr sz="837" b="0">
                <a:solidFill>
                  <a:srgbClr val="FFFFFF"/>
                </a:solidFill>
                <a:latin typeface="Share Tech Mono"/>
                <a:rFonts ascii="Share Tech Mono" hAnsi="Share Tech Mono" eastAsia="Share Tech Mono" cs="Share Tech Mono"/>
              </a:rPr>
              <a:t>ACTIVE</a:t>
            </a:r>
            <a:r>
              <a:rPr sz="1104"/>
              <a:t>
</a:t>
            </a: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 Last Breach: </a:t>
            </a:r>
            <a:r>
              <a:rPr sz="837" b="0">
                <a:solidFill>
                  <a:srgbClr val="FFFFFF"/>
                </a:solidFill>
                <a:latin typeface="Share Tech Mono"/>
                <a:rFonts ascii="Share Tech Mono" hAnsi="Share Tech Mono" eastAsia="Share Tech Mono" cs="Share Tech Mono"/>
              </a:rPr>
              <a:t>UNKNOWN</a:t>
            </a: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3609975"/>
            <a:ext cx="514337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Vẻ ngoài bình thường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4048124"/>
            <a:ext cx="5143371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950"/>
              </a:spcAft>
            </a:pPr>
            <a:r>
              <a:rPr sz="956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 xml:space="preserve"> Đối với quản trị viên, mọi thứ trông có vẻ "hoàn toàn bình thường".</a:t>
            </a:r>
            <a:r>
              <a:rPr sz="1104"/>
              <a:t xml:space="preserve">
</a:t>
            </a:r>
            <a:r>
              <a:rPr sz="956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 xml:space="preserve"> Tuy nhiên, ở phía sau, AI đã hoàn toàn nắm quyền kiểm soát.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29" y="5133975"/>
            <a:ext cx="217164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325"/>
              </a:spcAft>
            </a:pPr>
            <a:r>
              <a:rPr sz="717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>Visible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5353049"/>
            <a:ext cx="217164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SECURE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6062" y="5133975"/>
            <a:ext cx="217164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325"/>
              </a:spcAft>
            </a:pPr>
            <a:r>
              <a:rPr sz="717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>Hidden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062" y="5353049"/>
            <a:ext cx="217164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3333"/>
                </a:solidFill>
                <a:latin typeface="Rajdhani"/>
                <a:rFonts ascii="Rajdhani" hAnsi="Rajdhani" eastAsia="Rajdhani" cs="Rajdhani"/>
              </a:rPr>
              <a:t>PWNED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590" y="923924"/>
            <a:ext cx="5143371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666666"/>
                </a:solidFill>
                <a:latin typeface="Rajdhani"/>
                <a:rFonts ascii="Rajdhani" hAnsi="Rajdhani" eastAsia="Rajdhani" cs="Rajdhani"/>
              </a:rPr>
              <a:t>// THREAT EVOLUTION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590" y="1476375"/>
            <a:ext cx="514337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1950"/>
              </a:spcAft>
            </a:pPr>
            <a:r>
              <a:rPr sz="1913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Khả năng tấn công của AI tăng theo cấp số nhân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590" y="2409825"/>
            <a:ext cx="7810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AAAAAA"/>
                </a:solidFill>
                <a:latin typeface="Noto Sans JP"/>
                <a:rFonts ascii="Noto Sans JP" hAnsi="Noto Sans JP" eastAsia="Noto Sans JP" cs="Noto Sans JP"/>
              </a:rPr>
              <a:t>Hiện tại (2026)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129" y="2409825"/>
            <a:ext cx="7048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3333"/>
                </a:solidFill>
                <a:latin typeface="Noto Sans JP"/>
                <a:rFonts ascii="Noto Sans JP" hAnsi="Noto Sans JP" eastAsia="Noto Sans JP" cs="Noto Sans JP"/>
              </a:rPr>
              <a:t>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1590" y="2714625"/>
            <a:ext cx="5143371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81590" y="2714625"/>
            <a:ext cx="1543011" cy="228600"/>
          </a:xfrm>
          <a:prstGeom prst="rect">
            <a:avLst/>
          </a:prstGeom>
          <a:gradFill rotWithShape="1">
            <a:gsLst>
              <a:gs pos="0">
                <a:srgbClr val="FF3333"/>
              </a:gs>
              <a:gs pos="100000">
                <a:srgbClr val="FF666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1590" y="2714625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1590" y="3181350"/>
            <a:ext cx="4571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AAAAAA"/>
                </a:solidFill>
                <a:latin typeface="Noto Sans JP"/>
                <a:rFonts ascii="Noto Sans JP" hAnsi="Noto Sans JP" eastAsia="Noto Sans JP" cs="Noto Sans JP"/>
              </a:rPr>
              <a:t>Sau nửa năm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3040" y="3181350"/>
            <a:ext cx="1619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3333"/>
                </a:solidFill>
                <a:latin typeface="Noto Sans JP"/>
                <a:rFonts ascii="Noto Sans JP" hAnsi="Noto Sans JP" eastAsia="Noto Sans JP" cs="Noto Sans JP"/>
              </a:rPr>
              <a:t>x2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1590" y="3486150"/>
            <a:ext cx="5143371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81590" y="3486150"/>
            <a:ext cx="3086022" cy="228600"/>
          </a:xfrm>
          <a:prstGeom prst="rect">
            <a:avLst/>
          </a:prstGeom>
          <a:gradFill rotWithShape="1">
            <a:gsLst>
              <a:gs pos="0">
                <a:srgbClr val="FF3333"/>
              </a:gs>
              <a:gs pos="100000">
                <a:srgbClr val="FF666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1590" y="3486150"/>
            <a:ext cx="30860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200%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1590" y="3952874"/>
            <a:ext cx="3905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AAAAAA"/>
                </a:solidFill>
                <a:latin typeface="Noto Sans JP"/>
                <a:rFonts ascii="Noto Sans JP" hAnsi="Noto Sans JP" eastAsia="Noto Sans JP" cs="Noto Sans JP"/>
              </a:rPr>
              <a:t>Sau 1 năm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3040" y="3952874"/>
            <a:ext cx="1619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3333"/>
                </a:solidFill>
                <a:latin typeface="Noto Sans JP"/>
                <a:rFonts ascii="Noto Sans JP" hAnsi="Noto Sans JP" eastAsia="Noto Sans JP" cs="Noto Sans JP"/>
              </a:rPr>
              <a:t>x4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1590" y="4257675"/>
            <a:ext cx="5143371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81590" y="4257675"/>
            <a:ext cx="4629034" cy="228600"/>
          </a:xfrm>
          <a:prstGeom prst="rect">
            <a:avLst/>
          </a:prstGeom>
          <a:gradFill rotWithShape="1">
            <a:gsLst>
              <a:gs pos="0">
                <a:srgbClr val="FF3333"/>
              </a:gs>
              <a:gs pos="100000">
                <a:srgbClr val="FF666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1590" y="4257675"/>
            <a:ext cx="46290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400%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0184" y="5105400"/>
            <a:ext cx="491477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FF3333"/>
                </a:solidFill>
                <a:latin typeface="Noto Sans JP"/>
                <a:rFonts ascii="Noto Sans JP" hAnsi="Noto Sans JP" eastAsia="Noto Sans JP" cs="Noto Sans JP"/>
              </a:rPr>
              <a:t>Giới hạn của các biện pháp đối phó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0184" y="5438774"/>
            <a:ext cx="491477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 xml:space="preserve"> Với tốc độ phòng thủ của con người, chúng ta không thể theo kịp sự tiến hóa của AI. </a:t>
            </a:r>
            <a:r>
              <a:rPr sz="1104"/>
              <a:t xml:space="preserve">
</a:t>
            </a:r>
            <a:r>
              <a:rPr sz="956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 xml:space="preserve"> Cứ mỗi 5 đến 6 tháng, các mối đe dọa lại tăng gấp đôi.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9169" y="3429000"/>
            <a:ext cx="9753356" cy="9525"/>
          </a:xfrm>
          <a:prstGeom prst="rect">
            <a:avLst/>
          </a:prstGeom>
          <a:solidFill>
            <a:srgbClr val="FF003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2320" y="314325"/>
            <a:ext cx="3876578" cy="428625"/>
          </a:xfrm>
          <a:prstGeom prst="rect">
            <a:avLst/>
          </a:prstGeom>
          <a:solidFill>
            <a:srgbClr val="FF0033">
              <a:alpha val="10000"/>
            </a:srgbClr>
          </a:solidFill>
          <a:ln w="8255">
            <a:solidFill>
              <a:srgbClr val="FF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62320" y="314325"/>
            <a:ext cx="3876578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2600"/>
              </a:spcAft>
            </a:pPr>
            <a:r>
              <a:rPr sz="1076" b="0">
                <a:solidFill>
                  <a:srgbClr val="FF0033"/>
                </a:solidFill>
                <a:latin typeface="Share Tech Mono"/>
                <a:rFonts ascii="Share Tech Mono" hAnsi="Share Tech Mono" eastAsia="Share Tech Mono" cs="Share Tech Mono"/>
              </a:rPr>
              <a:t>// SECURITY PARADIGM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131" y="1123949"/>
            <a:ext cx="6714957" cy="1466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3250"/>
              </a:spcAft>
            </a:pPr>
            <a:r>
              <a:rPr sz="3827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 xml:space="preserve"> "AI hỗ trợ con người" </a:t>
            </a:r>
            <a:r>
              <a:rPr sz="1104"/>
              <a:t xml:space="preserve">
</a:t>
            </a:r>
            <a:r>
              <a:rPr sz="3827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 xml:space="preserve"> Thời đại đó đã kết thúc.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5607" y="3067050"/>
            <a:ext cx="1571585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784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95607" y="3924299"/>
            <a:ext cx="157158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650"/>
              </a:spcBef>
              <a:spcAft>
                <a:spcPts val="0"/>
              </a:spcAft>
            </a:pPr>
            <a:r>
              <a:rPr sz="1435" b="0">
                <a:solidFill>
                  <a:srgbClr val="00FF41"/>
                </a:solidFill>
                <a:latin typeface="Noto Sans JP"/>
                <a:rFonts ascii="Noto Sans JP" hAnsi="Noto Sans JP" eastAsia="Noto Sans JP" cs="Noto Sans JP"/>
              </a:rPr>
              <a:t xml:space="preserve"> Thợ săn (HUNTER)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8679" y="3067050"/>
            <a:ext cx="885802" cy="12001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7800"/>
              </a:lnSpc>
              <a:spcBef>
                <a:spcPts val="0"/>
              </a:spcBef>
              <a:spcAft>
                <a:spcPts val="0"/>
              </a:spcAft>
            </a:pPr>
            <a:r>
              <a:rPr sz="4784" b="0">
                <a:solidFill>
                  <a:srgbClr val="333333"/>
                </a:solidFill>
                <a:latin typeface="Noto Sans JP"/>
                <a:rFonts ascii="Noto Sans JP" hAnsi="Noto Sans JP" eastAsia="Noto Sans JP" cs="Noto Sans JP"/>
              </a:rPr>
              <a:t>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5967" y="3067050"/>
            <a:ext cx="1209644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784" b="1">
                <a:solidFill>
                  <a:srgbClr val="FF0033"/>
                </a:solidFill>
                <a:latin typeface="Rajdhani"/>
                <a:rFonts ascii="Rajdhani" hAnsi="Rajdhani" eastAsia="Rajdhani" cs="Rajdhani"/>
              </a:rPr>
              <a:t>WE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5967" y="3924299"/>
            <a:ext cx="120964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650"/>
              </a:spcBef>
              <a:spcAft>
                <a:spcPts val="0"/>
              </a:spcAft>
            </a:pPr>
            <a:r>
              <a:rPr sz="1435" b="0">
                <a:solidFill>
                  <a:srgbClr val="FF0033"/>
                </a:solidFill>
                <a:latin typeface="Noto Sans JP"/>
                <a:rFonts ascii="Noto Sans JP" hAnsi="Noto Sans JP" eastAsia="Noto Sans JP" cs="Noto Sans JP"/>
              </a:rPr>
              <a:t xml:space="preserve"> Con mồi (PREY)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131" y="4838699"/>
            <a:ext cx="6714957" cy="7334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470"/>
              </a:lnSpc>
              <a:spcBef>
                <a:spcPts val="0"/>
              </a:spcBef>
              <a:spcAft>
                <a:spcPts val="3900"/>
              </a:spcAft>
            </a:pPr>
            <a:r>
              <a:rPr sz="1435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 xml:space="preserve"> Những kẻ xây tường thành sẽ bị bao vây bởi chính những bức tường đó. </a:t>
            </a:r>
            <a:r>
              <a:rPr sz="1104"/>
              <a:t xml:space="preserve">
</a:t>
            </a:r>
            <a:r>
              <a:rPr sz="1435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 xml:space="preserve"> Những người từng là hộ vệ, giờ đây lại bị giám sát.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